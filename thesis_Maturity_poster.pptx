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3"/>
  </p:notesMasterIdLst>
  <p:sldIdLst>
    <p:sldId id="256" r:id="rId2"/>
  </p:sldIdLst>
  <p:sldSz cx="9601200" cy="12801600" type="A3"/>
  <p:notesSz cx="6858000" cy="9144000"/>
  <p:embeddedFontLst>
    <p:embeddedFont>
      <p:font typeface="Arial Narrow" panose="020B0606020202030204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AA6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F046DD-F6E1-5373-F62B-0C3FFF9F0DC6}" v="4" dt="2019-04-04T09:32:49.820"/>
    <p1510:client id="{56343495-D8AE-EE69-0B42-9376CB2A5AE3}" v="1" dt="2019-04-04T09:23:59.413"/>
    <p1510:client id="{82C0E000-7527-F8BB-8EBA-8A47B5C9AEC3}" v="244" dt="2019-04-04T09:31:36.6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56" y="-5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10956" marR="0" lvl="1" indent="-1356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21913" marR="0" lvl="2" indent="-2713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32869" marR="0" lvl="3" indent="-4068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443825" marR="0" lvl="4" indent="-542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54782" marR="0" lvl="5" indent="-6781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665738" marR="0" lvl="6" indent="-8137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276695" marR="0" lvl="7" indent="-949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887651" marR="0" lvl="8" indent="-1085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10956" marR="0" lvl="1" indent="-1356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21913" marR="0" lvl="2" indent="-2713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32869" marR="0" lvl="3" indent="-4068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443825" marR="0" lvl="4" indent="-542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54782" marR="0" lvl="5" indent="-6781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665738" marR="0" lvl="6" indent="-8137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276695" marR="0" lvl="7" indent="-949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887651" marR="0" lvl="8" indent="-1085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2143125" y="685800"/>
            <a:ext cx="2571749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10956" marR="0" lvl="1" indent="-1356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21913" marR="0" lvl="2" indent="-2713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32869" marR="0" lvl="3" indent="-4068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443825" marR="0" lvl="4" indent="-5425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54782" marR="0" lvl="5" indent="-6781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665738" marR="0" lvl="6" indent="-8137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276695" marR="0" lvl="7" indent="-9495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887651" marR="0" lvl="8" indent="-10850" algn="l" rtl="0">
              <a:spcBef>
                <a:spcPts val="0"/>
              </a:spcBef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10956" marR="0" lvl="1" indent="-1356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221913" marR="0" lvl="2" indent="-2713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32869" marR="0" lvl="3" indent="-4068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443825" marR="0" lvl="4" indent="-542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054782" marR="0" lvl="5" indent="-6781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665738" marR="0" lvl="6" indent="-8137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276695" marR="0" lvl="7" indent="-949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887651" marR="0" lvl="8" indent="-1085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fi-FI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fi-FI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" name="Shape 25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hree contents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15"/>
          <p:cNvSpPr txBox="1">
            <a:spLocks noGrp="1"/>
          </p:cNvSpPr>
          <p:nvPr>
            <p:ph type="body" idx="1"/>
          </p:nvPr>
        </p:nvSpPr>
        <p:spPr>
          <a:xfrm>
            <a:off x="502152" y="2735385"/>
            <a:ext cx="2813821" cy="854898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 Narrow"/>
              <a:buNone/>
              <a:defRPr sz="15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610956" marR="0" lvl="1" indent="-1356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221913" marR="0" lvl="2" indent="-2713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32869" marR="0" lvl="3" indent="-4068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443825" marR="0" lvl="4" indent="-5425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360260" marR="0" lvl="5" indent="-140810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971216" marR="0" lvl="6" indent="-142166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582173" marR="0" lvl="7" indent="-143523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5193129" marR="0" lvl="8" indent="-144879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body" idx="2"/>
          </p:nvPr>
        </p:nvSpPr>
        <p:spPr>
          <a:xfrm>
            <a:off x="3445642" y="2735385"/>
            <a:ext cx="2813821" cy="854898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 Narrow"/>
              <a:buNone/>
              <a:defRPr sz="15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610956" marR="0" lvl="1" indent="-1356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221913" marR="0" lvl="2" indent="-2713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32869" marR="0" lvl="3" indent="-4068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443825" marR="0" lvl="4" indent="-5425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360260" marR="0" lvl="5" indent="-140810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971216" marR="0" lvl="6" indent="-142166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582173" marR="0" lvl="7" indent="-143523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5193129" marR="0" lvl="8" indent="-144879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body" idx="3"/>
          </p:nvPr>
        </p:nvSpPr>
        <p:spPr>
          <a:xfrm>
            <a:off x="6389132" y="2735385"/>
            <a:ext cx="2813821" cy="854898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 Narrow"/>
              <a:buNone/>
              <a:defRPr sz="15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610956" marR="0" lvl="1" indent="-1356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221913" marR="0" lvl="2" indent="-2713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32869" marR="0" lvl="3" indent="-4068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443825" marR="0" lvl="4" indent="-5425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360260" marR="0" lvl="5" indent="-140810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971216" marR="0" lvl="6" indent="-142166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582173" marR="0" lvl="7" indent="-143523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5193129" marR="0" lvl="8" indent="-144879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502152" y="2757268"/>
            <a:ext cx="8700800" cy="852710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300"/>
              </a:spcBef>
              <a:buClr>
                <a:schemeClr val="dk1"/>
              </a:buClr>
              <a:buFont typeface="Arial Narrow"/>
              <a:buNone/>
              <a:defRPr sz="15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610956" marR="0" lvl="1" indent="-1356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221913" marR="0" lvl="2" indent="-2713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32869" marR="0" lvl="3" indent="-4068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443825" marR="0" lvl="4" indent="-5425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360260" marR="0" lvl="5" indent="-140810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971216" marR="0" lvl="6" indent="-142166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582173" marR="0" lvl="7" indent="-143523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5193129" marR="0" lvl="8" indent="-144879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ntent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502152" y="2765250"/>
            <a:ext cx="4307340" cy="85191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 Narrow"/>
              <a:buNone/>
              <a:defRPr sz="15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610956" marR="0" lvl="1" indent="-1356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221913" marR="0" lvl="2" indent="-2713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32869" marR="0" lvl="3" indent="-4068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443825" marR="0" lvl="4" indent="-5425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360260" marR="0" lvl="5" indent="-140810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971216" marR="0" lvl="6" indent="-142166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582173" marR="0" lvl="7" indent="-143523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5193129" marR="0" lvl="8" indent="-144879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2"/>
          </p:nvPr>
        </p:nvSpPr>
        <p:spPr>
          <a:xfrm>
            <a:off x="4898392" y="2765250"/>
            <a:ext cx="4304562" cy="85191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Font typeface="Arial Narrow"/>
              <a:buNone/>
              <a:defRPr sz="15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610956" marR="0" lvl="1" indent="-1356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221913" marR="0" lvl="2" indent="-2713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32869" marR="0" lvl="3" indent="-4068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443825" marR="0" lvl="4" indent="-5425" algn="l" rtl="0">
              <a:spcBef>
                <a:spcPts val="320"/>
              </a:spcBef>
              <a:buClr>
                <a:schemeClr val="dk1"/>
              </a:buClr>
              <a:buFont typeface="Arial Narrow"/>
              <a:buNone/>
              <a:defRPr sz="16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360260" marR="0" lvl="5" indent="-140810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971216" marR="0" lvl="6" indent="-142166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582173" marR="0" lvl="7" indent="-143523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5193129" marR="0" lvl="8" indent="-144879" algn="l" rtl="0">
              <a:spcBef>
                <a:spcPts val="540"/>
              </a:spcBef>
              <a:buClr>
                <a:schemeClr val="dk1"/>
              </a:buClr>
              <a:buSzPct val="1000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502152" y="909737"/>
            <a:ext cx="8700800" cy="79713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dk2"/>
              </a:buClr>
              <a:buFont typeface="Arial Narrow"/>
              <a:buNone/>
              <a:defRPr sz="3200" b="0" i="0" u="none" strike="noStrike" cap="none">
                <a:solidFill>
                  <a:schemeClr val="dk2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ftr" idx="11"/>
          </p:nvPr>
        </p:nvSpPr>
        <p:spPr>
          <a:xfrm>
            <a:off x="502152" y="1720777"/>
            <a:ext cx="8700800" cy="64501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300" b="0" i="0" u="none" strike="noStrike" cap="none">
                <a:solidFill>
                  <a:srgbClr val="7F7F7F"/>
                </a:solidFill>
                <a:latin typeface="Arial Narrow"/>
                <a:ea typeface="Arial Narrow"/>
                <a:cs typeface="Arial Narrow"/>
                <a:sym typeface="Arial Narrow"/>
              </a:defRPr>
            </a:lvl1pPr>
            <a:lvl2pPr marL="610956" marR="0" lvl="1" indent="-1356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L="1221913" marR="0" lvl="2" indent="-2713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L="1832869" marR="0" lvl="3" indent="-4068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L="2443825" marR="0" lvl="4" indent="-542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L="3054782" marR="0" lvl="5" indent="-6781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L="3665738" marR="0" lvl="6" indent="-8137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L="4276695" marR="0" lvl="7" indent="-9495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L="4887651" marR="0" lvl="8" indent="-10850" algn="l" rtl="0">
              <a:spcBef>
                <a:spcPts val="0"/>
              </a:spcBef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cxnSp>
        <p:nvCxnSpPr>
          <p:cNvPr id="12" name="Shape 12"/>
          <p:cNvCxnSpPr/>
          <p:nvPr/>
        </p:nvCxnSpPr>
        <p:spPr>
          <a:xfrm>
            <a:off x="502152" y="2479383"/>
            <a:ext cx="8700800" cy="0"/>
          </a:xfrm>
          <a:prstGeom prst="straightConnector1">
            <a:avLst/>
          </a:prstGeom>
          <a:noFill/>
          <a:ln w="9525" cap="flat" cmpd="sng">
            <a:solidFill>
              <a:srgbClr val="FC740C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3" name="Shape 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43828" y="308876"/>
            <a:ext cx="2886456" cy="36271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166EA63-2635-41DB-8310-4F59382AC3A7}"/>
              </a:ext>
            </a:extLst>
          </p:cNvPr>
          <p:cNvSpPr txBox="1"/>
          <p:nvPr/>
        </p:nvSpPr>
        <p:spPr>
          <a:xfrm>
            <a:off x="-28575" y="1"/>
            <a:ext cx="9629775" cy="2512364"/>
          </a:xfrm>
          <a:prstGeom prst="rect">
            <a:avLst/>
          </a:prstGeom>
          <a:solidFill>
            <a:srgbClr val="6AA6AB"/>
          </a:solidFill>
        </p:spPr>
        <p:txBody>
          <a:bodyPr wrap="square" rtlCol="0">
            <a:spAutoFit/>
          </a:bodyPr>
          <a:lstStyle/>
          <a:p>
            <a:endParaRPr lang="fi-FI"/>
          </a:p>
        </p:txBody>
      </p:sp>
      <p:sp>
        <p:nvSpPr>
          <p:cNvPr id="28" name="Shape 28"/>
          <p:cNvSpPr/>
          <p:nvPr/>
        </p:nvSpPr>
        <p:spPr>
          <a:xfrm>
            <a:off x="487427" y="11666664"/>
            <a:ext cx="8700800" cy="284477"/>
          </a:xfrm>
          <a:prstGeom prst="rect">
            <a:avLst/>
          </a:prstGeom>
          <a:noFill/>
          <a:ln>
            <a:noFill/>
          </a:ln>
        </p:spPr>
        <p:txBody>
          <a:bodyPr lIns="122175" tIns="0" rIns="12217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endParaRPr lang="fi-FI" sz="1200" b="0" i="0" u="none" strike="noStrike" cap="none">
              <a:solidFill>
                <a:srgbClr val="7F7F7F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502152" y="11951141"/>
            <a:ext cx="8700800" cy="607134"/>
          </a:xfrm>
          <a:prstGeom prst="rect">
            <a:avLst/>
          </a:prstGeom>
          <a:noFill/>
          <a:ln>
            <a:noFill/>
          </a:ln>
        </p:spPr>
        <p:txBody>
          <a:bodyPr lIns="122175" tIns="0" rIns="122175" bIns="0" anchor="t" anchorCtr="0">
            <a:noAutofit/>
          </a:bodyPr>
          <a:lstStyle/>
          <a:p>
            <a:pPr lvl="0">
              <a:buSzPct val="25000"/>
            </a:pPr>
            <a:r>
              <a:rPr lang="en-US" sz="1200" b="0" i="0" u="none" strike="noStrike" cap="none" dirty="0">
                <a:solidFill>
                  <a:srgbClr val="7F7F7F"/>
                </a:solidFill>
                <a:latin typeface="Arial Narrow"/>
              </a:rPr>
              <a:t>Date of Publication: Spring 2026</a:t>
            </a:r>
          </a:p>
          <a:p>
            <a:pPr>
              <a:buSzPct val="25000"/>
            </a:pPr>
            <a:r>
              <a:rPr lang="en-US" sz="1200" b="0" i="0" u="none" strike="noStrike" cap="none" dirty="0">
                <a:solidFill>
                  <a:srgbClr val="7F7F7F"/>
                </a:solidFill>
                <a:latin typeface="Arial Narrow"/>
              </a:rPr>
              <a:t>Instructor: Jari Kiiskinen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502152" y="909737"/>
            <a:ext cx="8700800" cy="797139"/>
          </a:xfrm>
          <a:prstGeom prst="rect">
            <a:avLst/>
          </a:prstGeom>
          <a:noFill/>
          <a:ln>
            <a:noFill/>
          </a:ln>
        </p:spPr>
        <p:txBody>
          <a:bodyPr lIns="122175" tIns="61075" rIns="122175" bIns="610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None/>
            </a:pPr>
            <a:r>
              <a:rPr lang="en-US" sz="2200" b="1" i="0" u="none" strike="noStrike" cap="none">
                <a:solidFill>
                  <a:schemeClr val="bg1"/>
                </a:solidFill>
                <a:latin typeface="Arial Narrow"/>
                <a:ea typeface="Arial Narrow"/>
                <a:cs typeface="Arial Narrow"/>
              </a:rPr>
              <a:t>Forecasting Gold Price Movements Using Alternative Data and Machine Learning Techniques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x="502152" y="1850779"/>
            <a:ext cx="8700800" cy="661585"/>
          </a:xfrm>
          <a:prstGeom prst="rect">
            <a:avLst/>
          </a:prstGeom>
          <a:noFill/>
          <a:ln>
            <a:noFill/>
          </a:ln>
        </p:spPr>
        <p:txBody>
          <a:bodyPr lIns="122175" tIns="0" rIns="122175" bIns="0" anchor="t" anchorCtr="0">
            <a:noAutofit/>
          </a:bodyPr>
          <a:lstStyle/>
          <a:p>
            <a:pPr>
              <a:buNone/>
            </a:pPr>
            <a:r>
              <a:rPr lang="en-US" sz="1200" b="1" i="0" u="none" strike="noStrike" cap="none">
                <a:solidFill>
                  <a:schemeClr val="bg1"/>
                </a:solidFill>
                <a:latin typeface="Arial Narrow"/>
              </a:rPr>
              <a:t>Abdelrahman Zewin</a:t>
            </a:r>
          </a:p>
          <a:p>
            <a:pPr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Arial Narrow"/>
              </a:rPr>
              <a:t>Master of Business Administration in Data Analytics and Project Management</a:t>
            </a:r>
          </a:p>
          <a:p>
            <a:pPr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Arial Narrow"/>
              </a:rPr>
              <a:t>Master’s Thesis, Spring 2026</a:t>
            </a:r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502152" y="2735385"/>
            <a:ext cx="2813821" cy="8931274"/>
          </a:xfrm>
          <a:prstGeom prst="rect">
            <a:avLst/>
          </a:prstGeom>
          <a:noFill/>
          <a:ln>
            <a:noFill/>
          </a:ln>
        </p:spPr>
        <p:txBody>
          <a:bodyPr lIns="122175" tIns="61075" rIns="122175" bIns="610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</a:rPr>
              <a:t>Introduction</a:t>
            </a:r>
          </a:p>
          <a:p>
            <a:pPr lvl="0">
              <a:spcBef>
                <a:spcPts val="0"/>
              </a:spcBef>
              <a:spcAft>
                <a:spcPts val="150"/>
              </a:spcAft>
            </a:pP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Gold has been used as a store of value and hedge against inflation throughout history, making accurate price forecasting valuable to investors, institutions, and national economies alike. However</a:t>
            </a:r>
            <a:r>
              <a:rPr lang="en-US" dirty="0"/>
              <a:t>, gold prices are difficult to predict due to their sensitivity to investor sentiment, geopolitical events, and macroeconomic signals</a:t>
            </a:r>
            <a:endParaRPr lang="en-US" b="0" i="0" u="none" strike="noStrike" cap="none" dirty="0">
              <a:latin typeface="Arial Narrow"/>
              <a:ea typeface="Arial Narrow"/>
              <a:cs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This thesis investigates whether alternative datasets, when processed through machine learning models, can meaningfully improve short-term gold price forecasting.</a:t>
            </a: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</a:rPr>
              <a:t>Research Questions</a:t>
            </a:r>
          </a:p>
          <a:p>
            <a:pPr marL="228600" indent="-228600">
              <a:spcAft>
                <a:spcPts val="100"/>
              </a:spcAft>
              <a:buChar char="•"/>
            </a:pP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Which ML models perform best when incorporating alternative data for predicting gold price movements?</a:t>
            </a:r>
          </a:p>
          <a:p>
            <a:pPr marL="228600" indent="-228600">
              <a:spcAft>
                <a:spcPts val="100"/>
              </a:spcAft>
              <a:buChar char="•"/>
            </a:pP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Which types of alternative data have the strongest predictive relationship with gold price movements?</a:t>
            </a:r>
          </a:p>
          <a:p>
            <a:pPr marL="228600" indent="-228600">
              <a:spcAft>
                <a:spcPts val="100"/>
              </a:spcAft>
              <a:buChar char="•"/>
            </a:pP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Does the inclusion of alternative data improve forecasting accuracy, even marginally?</a:t>
            </a: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</a:rPr>
              <a:t>Data Description &amp; Processing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Five datasets were collected for the period Jan. 2008 to Dec. 2017:</a:t>
            </a:r>
          </a:p>
          <a:p>
            <a:pPr marL="228600" indent="-228600">
              <a:spcAft>
                <a:spcPts val="100"/>
              </a:spcAft>
              <a:buChar char="•"/>
            </a:pP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Gold Historical Data</a:t>
            </a:r>
            <a:r>
              <a:rPr lang="en-US" dirty="0"/>
              <a:t>, </a:t>
            </a: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Google Trends</a:t>
            </a:r>
            <a:r>
              <a:rPr lang="en-US" dirty="0"/>
              <a:t>, </a:t>
            </a: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News Sentiment</a:t>
            </a:r>
            <a:r>
              <a:rPr lang="en-US" dirty="0"/>
              <a:t>, </a:t>
            </a: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VIX,</a:t>
            </a:r>
            <a:r>
              <a:rPr lang="en-US" dirty="0"/>
              <a:t> </a:t>
            </a: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DXY</a:t>
            </a:r>
          </a:p>
          <a:p>
            <a:pPr marL="228600" indent="-228600">
              <a:spcAft>
                <a:spcPts val="100"/>
              </a:spcAft>
              <a:buChar char="•"/>
            </a:pPr>
            <a:r>
              <a:rPr lang="en-US" dirty="0"/>
              <a:t>Data was cleaned, consolidated, and features were engineered before introduction to ML models (Figure 1)</a:t>
            </a:r>
            <a:endParaRPr lang="en-US" b="0" i="0" u="none" strike="noStrike" cap="none" dirty="0">
              <a:latin typeface="Arial Narrow"/>
              <a:ea typeface="Arial Narrow"/>
              <a:cs typeface="Arial Narrow"/>
            </a:endParaRPr>
          </a:p>
        </p:txBody>
      </p:sp>
      <p:sp>
        <p:nvSpPr>
          <p:cNvPr id="34" name="Shape 34"/>
          <p:cNvSpPr txBox="1">
            <a:spLocks noGrp="1"/>
          </p:cNvSpPr>
          <p:nvPr>
            <p:ph type="body" idx="2"/>
          </p:nvPr>
        </p:nvSpPr>
        <p:spPr>
          <a:xfrm>
            <a:off x="3445642" y="2735385"/>
            <a:ext cx="2813821" cy="8931274"/>
          </a:xfrm>
          <a:prstGeom prst="rect">
            <a:avLst/>
          </a:prstGeom>
          <a:noFill/>
          <a:ln>
            <a:noFill/>
          </a:ln>
        </p:spPr>
        <p:txBody>
          <a:bodyPr lIns="122175" tIns="61075" rIns="122175" bIns="610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en-US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en-US" b="1" dirty="0"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en-US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en-US" b="1" dirty="0"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en-US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en-US" b="1" dirty="0"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en-US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en-US" b="1" dirty="0"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endParaRPr lang="en-US" b="1" i="0" u="none" strike="noStrike" cap="none" dirty="0">
              <a:solidFill>
                <a:schemeClr val="dk1"/>
              </a:solidFill>
              <a:latin typeface="Arial Narrow"/>
              <a:ea typeface="Arial Narrow"/>
              <a:cs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r>
              <a:rPr lang="en-US" dirty="0"/>
              <a:t>Figure 1. Pipeline DAG</a:t>
            </a: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</a:rPr>
              <a:t>Forecasting Framework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Two feature configurations were compared:</a:t>
            </a:r>
          </a:p>
          <a:p>
            <a:pPr marL="228600" indent="-228600">
              <a:spcAft>
                <a:spcPts val="100"/>
              </a:spcAft>
              <a:buChar char="•"/>
            </a:pP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Base model: technical features only (price-based features, VIX, DXY)</a:t>
            </a:r>
          </a:p>
          <a:p>
            <a:pPr marL="228600" indent="-228600">
              <a:spcAft>
                <a:spcPts val="100"/>
              </a:spcAft>
              <a:buChar char="•"/>
            </a:pP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Alternative model: base features + Google Trends + news sentiment data</a:t>
            </a:r>
          </a:p>
          <a:p>
            <a:pPr marL="228600" indent="-228600">
              <a:spcAft>
                <a:spcPts val="100"/>
              </a:spcAft>
              <a:buChar char="•"/>
            </a:pP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An 80/20 chronological train-test split was used with an 80% prediction interval.</a:t>
            </a:r>
          </a:p>
          <a:p>
            <a:pPr marL="171450" indent="-17145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dirty="0"/>
              <a:t>Three ML models were implemented; Prophet (baseline), QRF, XGBoost</a:t>
            </a: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</a:rPr>
              <a:t>Evaluation Metrics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Metrics were chosen to measure three aspects of probabilistic forecasting quality:</a:t>
            </a:r>
          </a:p>
          <a:p>
            <a:pPr marL="228600" indent="-228600">
              <a:spcAft>
                <a:spcPts val="100"/>
              </a:spcAft>
              <a:buChar char="•"/>
            </a:pP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CRPS (primary)</a:t>
            </a:r>
            <a:r>
              <a:rPr lang="en-US" dirty="0"/>
              <a:t>: </a:t>
            </a: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forecast accuracy. Lower is better.</a:t>
            </a:r>
          </a:p>
          <a:p>
            <a:pPr marL="228600" indent="-228600">
              <a:spcAft>
                <a:spcPts val="100"/>
              </a:spcAft>
              <a:buChar char="•"/>
            </a:pP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PICP: proportion of actual values falling within predicted intervals.</a:t>
            </a:r>
          </a:p>
          <a:p>
            <a:pPr marL="228600" indent="-228600">
              <a:spcAft>
                <a:spcPts val="100"/>
              </a:spcAft>
              <a:buChar char="•"/>
            </a:pP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Interval Width: measures sharpness. Narrower is better (with adequate coverage).</a:t>
            </a:r>
          </a:p>
          <a:p>
            <a:pPr marL="228600" indent="-228600">
              <a:spcAft>
                <a:spcPts val="100"/>
              </a:spcAft>
              <a:buChar char="•"/>
            </a:pP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RMSE (secondary): measures deviation from actual values.</a:t>
            </a:r>
          </a:p>
        </p:txBody>
      </p:sp>
      <p:sp>
        <p:nvSpPr>
          <p:cNvPr id="35" name="Shape 35"/>
          <p:cNvSpPr txBox="1">
            <a:spLocks noGrp="1"/>
          </p:cNvSpPr>
          <p:nvPr>
            <p:ph type="body" idx="3"/>
          </p:nvPr>
        </p:nvSpPr>
        <p:spPr>
          <a:xfrm>
            <a:off x="6389125" y="2735385"/>
            <a:ext cx="2813700" cy="8931274"/>
          </a:xfrm>
          <a:prstGeom prst="rect">
            <a:avLst/>
          </a:prstGeom>
          <a:noFill/>
          <a:ln>
            <a:noFill/>
          </a:ln>
        </p:spPr>
        <p:txBody>
          <a:bodyPr lIns="122175" tIns="61075" rIns="122175" bIns="610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</a:rPr>
              <a:t>Results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Prophet performed poorly, QRF noticeably better, XGBoost achieved the strongest performance: average PICP of 71.6% (base) with tighter intervals than QRF, and marginally similar results with the alternative dataset.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Interestingly, using alternative data resulted in an approximate 2% increase (worsening) in average CRPS scores across all models, compared to using the base dataset alone. (Figure 2)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endParaRPr lang="en-US" b="0" i="0" u="none" strike="noStrike" cap="none" dirty="0">
              <a:latin typeface="Arial Narrow"/>
              <a:ea typeface="Arial Narrow"/>
              <a:cs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endParaRPr lang="en-US" b="0" i="0" u="none" strike="noStrike" cap="none" dirty="0">
              <a:latin typeface="Arial Narrow"/>
              <a:ea typeface="Arial Narrow"/>
              <a:cs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endParaRPr lang="en-US" b="0" i="0" u="none" strike="noStrike" cap="none" dirty="0">
              <a:latin typeface="Arial Narrow"/>
              <a:ea typeface="Arial Narrow"/>
              <a:cs typeface="Arial Narro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endParaRPr lang="en-US" b="0" i="0" u="none" strike="noStrike" cap="none" dirty="0">
              <a:latin typeface="Arial Narrow"/>
              <a:ea typeface="Arial Narrow"/>
              <a:cs typeface="Arial Narrow"/>
            </a:endParaRPr>
          </a:p>
          <a:p>
            <a:pPr>
              <a:spcBef>
                <a:spcPts val="100"/>
              </a:spcBef>
              <a:buNone/>
            </a:pPr>
            <a:r>
              <a:rPr lang="en-US" dirty="0"/>
              <a:t>Figure 2. Evaluation metrics’ results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</a:rPr>
              <a:t>Conclusion</a:t>
            </a:r>
          </a:p>
          <a:p>
            <a:pPr marL="228600" indent="-228600">
              <a:spcAft>
                <a:spcPts val="100"/>
              </a:spcAft>
              <a:buChar char="•"/>
            </a:pP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Tree-based ML models (QRF, XGBoost) are significantly more effective than linear time series models for short-term gold price forecasting.</a:t>
            </a:r>
          </a:p>
          <a:p>
            <a:pPr marL="228600" indent="-228600">
              <a:spcAft>
                <a:spcPts val="100"/>
              </a:spcAft>
              <a:buChar char="•"/>
            </a:pP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Alternative data (Google Trends, news sentiment) does not provide a statistically meaningful improvement in short-term gold price forecasting accuracy within this study's scope.</a:t>
            </a:r>
            <a:endParaRPr lang="en-US" dirty="0"/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 Narrow"/>
              <a:buNone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 Narrow"/>
                <a:ea typeface="Arial Narrow"/>
                <a:cs typeface="Arial Narrow"/>
              </a:rPr>
              <a:t>References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None/>
            </a:pPr>
            <a:r>
              <a:rPr lang="en-US" b="0" i="0" u="none" strike="noStrike" cap="none" dirty="0">
                <a:latin typeface="Arial Narrow"/>
                <a:ea typeface="Arial Narrow"/>
                <a:cs typeface="Arial Narrow"/>
              </a:rPr>
              <a:t>Alharbi (2024) | Cohen &amp; Aiche (2023) | Gu, Kelly &amp; Xiu (2020) | Masud et al. (2025) | Preis, Moat &amp; Stanley (2013) Trivedi et al. (2022)</a:t>
            </a:r>
          </a:p>
        </p:txBody>
      </p:sp>
      <p:pic>
        <p:nvPicPr>
          <p:cNvPr id="2" name="Kuva 11" descr="Kuva, joka sisältää kohteen objekti&#10;&#10;Kuvaus luotu, korkea luotettavuus">
            <a:extLst>
              <a:ext uri="{FF2B5EF4-FFF2-40B4-BE49-F238E27FC236}">
                <a16:creationId xmlns:a16="http://schemas.microsoft.com/office/drawing/2014/main" id="{9F46D9E6-8390-37AE-5102-8680CC229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839" y="205238"/>
            <a:ext cx="2743200" cy="6619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947C55-F8AB-D631-F11B-9C9BED53BA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3762" y="2735380"/>
            <a:ext cx="2597579" cy="22882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8A8001-2ED8-8D6C-FD18-37CF2CFF1F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574" y="6214594"/>
            <a:ext cx="2816913" cy="12113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amk oranssi">
  <a:themeElements>
    <a:clrScheme name="Oamk oranssi 2">
      <a:dk1>
        <a:srgbClr val="000000"/>
      </a:dk1>
      <a:lt1>
        <a:srgbClr val="FFFFFF"/>
      </a:lt1>
      <a:dk2>
        <a:srgbClr val="FD7813"/>
      </a:dk2>
      <a:lt2>
        <a:srgbClr val="E6E6E6"/>
      </a:lt2>
      <a:accent1>
        <a:srgbClr val="FD7813"/>
      </a:accent1>
      <a:accent2>
        <a:srgbClr val="FFA558"/>
      </a:accent2>
      <a:accent3>
        <a:srgbClr val="FFBC86"/>
      </a:accent3>
      <a:accent4>
        <a:srgbClr val="FFD3B1"/>
      </a:accent4>
      <a:accent5>
        <a:srgbClr val="FFE9D9"/>
      </a:accent5>
      <a:accent6>
        <a:srgbClr val="F7F4EC"/>
      </a:accent6>
      <a:hlink>
        <a:srgbClr val="2E809E"/>
      </a:hlink>
      <a:folHlink>
        <a:srgbClr val="3CA5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512</Words>
  <Application>Microsoft Office PowerPoint</Application>
  <PresentationFormat>A3 Paper (297x420 mm)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Oamk oranssi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PowerPoint-esitys</dc:title>
  <dc:creator>Eero Nousiainen</dc:creator>
  <cp:lastModifiedBy>Abdelrahman Zewin</cp:lastModifiedBy>
  <cp:revision>2</cp:revision>
  <dcterms:modified xsi:type="dcterms:W3CDTF">2026-04-29T03:38:45Z</dcterms:modified>
</cp:coreProperties>
</file>